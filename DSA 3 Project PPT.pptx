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4" r:id="rId5"/>
    <p:sldId id="258" r:id="rId6"/>
    <p:sldId id="261" r:id="rId7"/>
    <p:sldId id="265" r:id="rId8"/>
    <p:sldId id="259" r:id="rId9"/>
    <p:sldId id="267" r:id="rId10"/>
    <p:sldId id="266" r:id="rId11"/>
    <p:sldId id="260" r:id="rId12"/>
    <p:sldId id="262"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3" d="100"/>
          <a:sy n="83" d="100"/>
        </p:scale>
        <p:origin x="6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jpe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2">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smtClean="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altLang="en-US" sz="4000" b="1" dirty="0">
                <a:solidFill>
                  <a:srgbClr val="C00000"/>
                </a:solidFill>
                <a:latin typeface="+mn-lt"/>
              </a:rPr>
              <a:t>Multi Pattern Search Engine using the Aho–Corasick Algorithm</a:t>
            </a:r>
            <a:endParaRPr lang="en-US" altLang="en-US" sz="4000" b="1" dirty="0">
              <a:solidFill>
                <a:srgbClr val="C00000"/>
              </a:solidFill>
              <a:latin typeface="+mn-lt"/>
            </a:endParaRP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endParaRPr lang="en-US" dirty="0">
              <a:solidFill>
                <a:srgbClr val="0070C0"/>
              </a:solidFill>
            </a:endParaRPr>
          </a:p>
          <a:p>
            <a:r>
              <a:rPr lang="en-US" sz="1800" dirty="0">
                <a:solidFill>
                  <a:srgbClr val="0070C0"/>
                </a:solidFill>
              </a:rPr>
              <a:t>Sai Sri Hasini : 2520030116</a:t>
            </a:r>
            <a:endParaRPr lang="en-US" sz="1800" dirty="0">
              <a:solidFill>
                <a:srgbClr val="0070C0"/>
              </a:solidFill>
            </a:endParaRPr>
          </a:p>
          <a:p>
            <a:r>
              <a:rPr lang="en-US" sz="1800" dirty="0">
                <a:solidFill>
                  <a:srgbClr val="0070C0"/>
                </a:solidFill>
              </a:rPr>
              <a:t>Mythri  :  2520030296</a:t>
            </a:r>
            <a:endParaRPr lang="en-US" sz="1800" dirty="0">
              <a:solidFill>
                <a:srgbClr val="0070C0"/>
              </a:solidFill>
            </a:endParaRPr>
          </a:p>
          <a:p>
            <a:r>
              <a:rPr lang="en-US" sz="1800" dirty="0">
                <a:solidFill>
                  <a:srgbClr val="0070C0"/>
                </a:solidFill>
              </a:rPr>
              <a:t>Rukesh : 2520030519</a:t>
            </a:r>
            <a:endParaRPr lang="en-US" sz="1800" dirty="0">
              <a:solidFill>
                <a:srgbClr val="0070C0"/>
              </a:solidFill>
            </a:endParaRPr>
          </a:p>
          <a:p>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Dr. S. Madavi</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endParaRPr lang="en-US" sz="3200" b="0" i="0" u="none" strike="noStrike" kern="1200" dirty="0">
              <a:solidFill>
                <a:srgbClr val="000000"/>
              </a:solidFill>
              <a:effectLst/>
              <a:latin typeface="Calibri" panose="020F0502020204030204" pitchFamily="34" charset="0"/>
            </a:endParaRP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endPar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endParaRPr lang="en-US" sz="3200" b="1"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endParaRPr lang="en-US" sz="3200" b="1" dirty="0">
              <a:solidFill>
                <a:schemeClr val="bg1"/>
              </a:solidFill>
            </a:endParaRPr>
          </a:p>
        </p:txBody>
      </p:sp>
      <p:sp>
        <p:nvSpPr>
          <p:cNvPr id="4" name="Text Box 3"/>
          <p:cNvSpPr txBox="1"/>
          <p:nvPr/>
        </p:nvSpPr>
        <p:spPr>
          <a:xfrm>
            <a:off x="920115" y="1071880"/>
            <a:ext cx="10429240" cy="5044440"/>
          </a:xfrm>
          <a:prstGeom prst="rect">
            <a:avLst/>
          </a:prstGeom>
          <a:noFill/>
        </p:spPr>
        <p:txBody>
          <a:bodyPr wrap="square" rtlCol="0" anchor="t">
            <a:noAutofit/>
          </a:bodyPr>
          <a:p>
            <a:r>
              <a:rPr lang="en-US" altLang="en-US" sz="2800"/>
              <a:t>The Multilingual Keyword Detection Search Engine uses the Aho–Corasick algorithm to efficiently search multiple keywords simultaneously in large text datasets. It constructs a Trie with failure links using BFS and identifies all keyword occurrences, positions, and counts in a single text scan. The system supports Unicode and multilingual text such as English, Telugu, and Hindi, while providing visualized search results and performance information. The project demonstrates the practical use of Trie, Queue, BFS, and multi-pattern matching for efficient large-scale text processing.</a:t>
            </a:r>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endParaRPr lang="en-US" sz="3200" b="1" dirty="0">
              <a:solidFill>
                <a:schemeClr val="bg1"/>
              </a:solidFill>
            </a:endParaRPr>
          </a:p>
        </p:txBody>
      </p:sp>
      <p:sp>
        <p:nvSpPr>
          <p:cNvPr id="4" name="Text Box 3"/>
          <p:cNvSpPr txBox="1"/>
          <p:nvPr/>
        </p:nvSpPr>
        <p:spPr>
          <a:xfrm>
            <a:off x="984250" y="1133475"/>
            <a:ext cx="10538460" cy="4921250"/>
          </a:xfrm>
          <a:prstGeom prst="rect">
            <a:avLst/>
          </a:prstGeom>
          <a:noFill/>
        </p:spPr>
        <p:txBody>
          <a:bodyPr wrap="square" rtlCol="0" anchor="t">
            <a:noAutofit/>
          </a:bodyPr>
          <a:p>
            <a:r>
              <a:rPr lang="en-US" altLang="en-US" sz="2800"/>
              <a:t>The Multilingual Keyword Detection Search Engine is designed to efficiently search multiple keywords within large text datasets. Traditional string-matching methods require repeated scanning of the same text for different keywords, which increases processing time. This project uses the Aho–Corasick algorithm, which combines a Trie and failure links to identify multiple patterns simultaneously. The system supports Unicode and multilingual text and provides keyword occurrences, positions, and highlighted results.</a:t>
            </a:r>
            <a:endParaRPr 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endParaRPr lang="en-US" sz="3200" b="1" dirty="0">
              <a:solidFill>
                <a:schemeClr val="bg1"/>
              </a:solidFill>
            </a:endParaRPr>
          </a:p>
        </p:txBody>
      </p:sp>
      <p:sp>
        <p:nvSpPr>
          <p:cNvPr id="4" name="Text Box 3"/>
          <p:cNvSpPr txBox="1"/>
          <p:nvPr/>
        </p:nvSpPr>
        <p:spPr>
          <a:xfrm>
            <a:off x="733425" y="1309370"/>
            <a:ext cx="10450195" cy="4790440"/>
          </a:xfrm>
          <a:prstGeom prst="rect">
            <a:avLst/>
          </a:prstGeom>
          <a:noFill/>
        </p:spPr>
        <p:txBody>
          <a:bodyPr wrap="square" rtlCol="0" anchor="t">
            <a:noAutofit/>
          </a:bodyPr>
          <a:p>
            <a:r>
              <a:rPr lang="en-US" altLang="en-US" sz="2800"/>
              <a:t>Several string-matching algorithms such as Naive String Matching, KMP, Rabin–Karp, and Trie-based searching have been developed for efficient text processing. However, most traditional algorithms are designed for searching a single pattern or require repeated processing for multiple patterns. The Aho–Corasick algorithm overcomes this limitation by constructing a Trie with failure links and searching for multiple patterns in a single traversal. Therefore, it is more suitable for large-scale multi-pattern searching.</a:t>
            </a:r>
            <a:endParaRPr 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endParaRPr lang="en-US" sz="3200" b="1" dirty="0">
              <a:solidFill>
                <a:schemeClr val="bg1"/>
              </a:solidFill>
            </a:endParaRPr>
          </a:p>
        </p:txBody>
      </p:sp>
      <p:sp>
        <p:nvSpPr>
          <p:cNvPr id="4" name="Text Box 3"/>
          <p:cNvSpPr txBox="1"/>
          <p:nvPr/>
        </p:nvSpPr>
        <p:spPr>
          <a:xfrm>
            <a:off x="1019175" y="1222375"/>
            <a:ext cx="10197465" cy="4997450"/>
          </a:xfrm>
          <a:prstGeom prst="rect">
            <a:avLst/>
          </a:prstGeom>
          <a:noFill/>
        </p:spPr>
        <p:txBody>
          <a:bodyPr wrap="square" rtlCol="0" anchor="t">
            <a:noAutofit/>
          </a:bodyPr>
          <a:p>
            <a:r>
              <a:rPr lang="en-US" altLang="en-US" sz="2800"/>
              <a:t>The project aims to develop a multi-pattern search engine capable of locating thousands of keywords simultaneously in large text datasets using the Aho–Corasick algorithm. The main objectives are to construct a Trie with failure links, detect every occurrence of multiple keywords, support Unicode and multilingual text, provide matching positions and occurrence counts, and visualize the search results. The project also focuses on demonstrating the efficiency and scalability of multi-pattern matching</a:t>
            </a:r>
            <a:endParaRPr lang="en-US" sz="2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endParaRPr lang="en-US" sz="3200" b="1" dirty="0">
              <a:solidFill>
                <a:schemeClr val="bg1"/>
              </a:solidFill>
            </a:endParaRPr>
          </a:p>
        </p:txBody>
      </p:sp>
      <p:sp>
        <p:nvSpPr>
          <p:cNvPr id="4" name="Text Box 3"/>
          <p:cNvSpPr txBox="1"/>
          <p:nvPr/>
        </p:nvSpPr>
        <p:spPr>
          <a:xfrm>
            <a:off x="644525" y="870585"/>
            <a:ext cx="9876790" cy="5192395"/>
          </a:xfrm>
          <a:prstGeom prst="rect">
            <a:avLst/>
          </a:prstGeom>
          <a:noFill/>
        </p:spPr>
        <p:txBody>
          <a:bodyPr wrap="square" rtlCol="0" anchor="t">
            <a:noAutofit/>
          </a:bodyPr>
          <a:p>
            <a:endParaRPr lang="en-US" sz="2400"/>
          </a:p>
        </p:txBody>
      </p:sp>
      <p:pic>
        <p:nvPicPr>
          <p:cNvPr id="5" name="Picture 4"/>
          <p:cNvPicPr>
            <a:picLocks noChangeAspect="1"/>
          </p:cNvPicPr>
          <p:nvPr/>
        </p:nvPicPr>
        <p:blipFill>
          <a:blip r:embed="rId1"/>
          <a:stretch>
            <a:fillRect/>
          </a:stretch>
        </p:blipFill>
        <p:spPr>
          <a:xfrm>
            <a:off x="1684655" y="1268730"/>
            <a:ext cx="8578850" cy="50984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 Box 3"/>
          <p:cNvSpPr txBox="1"/>
          <p:nvPr/>
        </p:nvSpPr>
        <p:spPr>
          <a:xfrm>
            <a:off x="809625" y="1027430"/>
            <a:ext cx="10053320" cy="5101590"/>
          </a:xfrm>
          <a:prstGeom prst="rect">
            <a:avLst/>
          </a:prstGeom>
          <a:noFill/>
        </p:spPr>
        <p:txBody>
          <a:bodyPr wrap="square" rtlCol="0" anchor="t">
            <a:noAutofit/>
          </a:bodyPr>
          <a:p>
            <a:r>
              <a:rPr lang="en-US" altLang="en-US" sz="2400"/>
              <a:t>Successfully constructs a Trie from multiple input keywords.</a:t>
            </a:r>
            <a:endParaRPr lang="en-US" altLang="en-US" sz="2400"/>
          </a:p>
          <a:p>
            <a:r>
              <a:rPr lang="en-US" altLang="en-US" sz="2400"/>
              <a:t>Failure links are generated using BFS traversal.</a:t>
            </a:r>
            <a:endParaRPr lang="en-US" altLang="en-US" sz="2400"/>
          </a:p>
          <a:p>
            <a:r>
              <a:rPr lang="en-US" altLang="en-US" sz="2400"/>
              <a:t>Multiple keywords are detected in a single scan of the input text.</a:t>
            </a:r>
            <a:endParaRPr lang="en-US" altLang="en-US" sz="2400"/>
          </a:p>
          <a:p>
            <a:r>
              <a:rPr lang="en-US" altLang="en-US" sz="2400"/>
              <a:t>The system reports:</a:t>
            </a:r>
            <a:endParaRPr lang="en-US" altLang="en-US" sz="2400"/>
          </a:p>
          <a:p>
            <a:r>
              <a:rPr lang="zh-CN" altLang="en-US" sz="2400"/>
              <a:t>🔹 </a:t>
            </a:r>
            <a:r>
              <a:rPr lang="en-US" altLang="en-US" sz="2400"/>
              <a:t>Matched keyword</a:t>
            </a:r>
            <a:endParaRPr lang="en-US" altLang="en-US" sz="2400"/>
          </a:p>
          <a:p>
            <a:r>
              <a:rPr lang="zh-CN" altLang="en-US" sz="2400"/>
              <a:t>🔹 </a:t>
            </a:r>
            <a:r>
              <a:rPr lang="en-US" altLang="en-US" sz="2400"/>
              <a:t>Number of occurrences</a:t>
            </a:r>
            <a:endParaRPr lang="en-US" altLang="en-US" sz="2400"/>
          </a:p>
          <a:p>
            <a:r>
              <a:rPr lang="zh-CN" altLang="en-US" sz="2400"/>
              <a:t>🔹 </a:t>
            </a:r>
            <a:r>
              <a:rPr lang="en-US" altLang="en-US" sz="2400"/>
              <a:t>Matching positions</a:t>
            </a:r>
            <a:endParaRPr lang="en-US" altLang="en-US" sz="2400"/>
          </a:p>
          <a:p>
            <a:r>
              <a:rPr lang="zh-CN" altLang="en-US" sz="2400"/>
              <a:t>🔹 </a:t>
            </a:r>
            <a:r>
              <a:rPr lang="en-US" altLang="en-US" sz="2400"/>
              <a:t>Highlighted keywords</a:t>
            </a:r>
            <a:endParaRPr lang="en-US" altLang="en-US" sz="2400"/>
          </a:p>
          <a:p>
            <a:r>
              <a:rPr lang="en-US" altLang="en-US" sz="2400"/>
              <a:t>Successfully handles Unicode and multilingual characters.</a:t>
            </a:r>
            <a:endParaRPr lang="en-US" altLang="en-US" sz="2400"/>
          </a:p>
          <a:p>
            <a:r>
              <a:rPr lang="en-US" altLang="en-US" sz="2400"/>
              <a:t>Demonstrates improved efficiency compared with repeatedly searching each pattern independently.</a:t>
            </a:r>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 Box 3"/>
          <p:cNvSpPr txBox="1"/>
          <p:nvPr/>
        </p:nvSpPr>
        <p:spPr>
          <a:xfrm>
            <a:off x="1207135" y="660400"/>
            <a:ext cx="9645650" cy="6027420"/>
          </a:xfrm>
          <a:prstGeom prst="rect">
            <a:avLst/>
          </a:prstGeom>
          <a:noFill/>
        </p:spPr>
        <p:txBody>
          <a:bodyPr wrap="square" rtlCol="0" anchor="t">
            <a:noAutofit/>
          </a:bodyPr>
          <a:p>
            <a:endParaRPr lang="en-US" altLang="en-US" sz="2400" b="1">
              <a:sym typeface="+mn-ea"/>
            </a:endParaRPr>
          </a:p>
          <a:p>
            <a:r>
              <a:rPr lang="en-US" altLang="en-US" sz="2400" b="1">
                <a:sym typeface="+mn-ea"/>
              </a:rPr>
              <a:t>Hardware Requirements:</a:t>
            </a:r>
            <a:endParaRPr lang="en-US" altLang="en-US" sz="2400" b="1"/>
          </a:p>
          <a:p>
            <a:pPr marL="342900" indent="-342900">
              <a:buFont typeface="Arial" panose="020B0604020202020204" pitchFamily="34" charset="0"/>
              <a:buChar char="•"/>
            </a:pPr>
            <a:r>
              <a:rPr lang="en-US" altLang="en-US" sz="2400">
                <a:sym typeface="+mn-ea"/>
              </a:rPr>
              <a:t>Processor: Intel Core i3 or higher</a:t>
            </a:r>
            <a:endParaRPr lang="en-US" altLang="en-US" sz="2400"/>
          </a:p>
          <a:p>
            <a:pPr marL="342900" indent="-342900">
              <a:buFont typeface="Arial" panose="020B0604020202020204" pitchFamily="34" charset="0"/>
              <a:buChar char="•"/>
            </a:pPr>
            <a:r>
              <a:rPr lang="en-US" altLang="en-US" sz="2400">
                <a:sym typeface="+mn-ea"/>
              </a:rPr>
              <a:t>RAM: Minimum 4 GB</a:t>
            </a:r>
            <a:endParaRPr lang="en-US" altLang="en-US" sz="2400"/>
          </a:p>
          <a:p>
            <a:pPr marL="342900" indent="-342900">
              <a:buFont typeface="Arial" panose="020B0604020202020204" pitchFamily="34" charset="0"/>
              <a:buChar char="•"/>
            </a:pPr>
            <a:r>
              <a:rPr lang="en-US" altLang="en-US" sz="2400">
                <a:sym typeface="+mn-ea"/>
              </a:rPr>
              <a:t>Storage: Minimum 500 MB free space</a:t>
            </a:r>
            <a:endParaRPr lang="en-US" altLang="en-US" sz="2400"/>
          </a:p>
          <a:p>
            <a:pPr marL="342900" indent="-342900">
              <a:buFont typeface="Arial" panose="020B0604020202020204" pitchFamily="34" charset="0"/>
              <a:buChar char="•"/>
            </a:pPr>
            <a:r>
              <a:rPr lang="en-US" altLang="en-US" sz="2400">
                <a:sym typeface="+mn-ea"/>
              </a:rPr>
              <a:t>Display: Standard monitor</a:t>
            </a:r>
            <a:endParaRPr lang="en-US" altLang="en-US" sz="2400"/>
          </a:p>
          <a:p>
            <a:pPr marL="342900" indent="-342900">
              <a:buFont typeface="Arial" panose="020B0604020202020204" pitchFamily="34" charset="0"/>
              <a:buChar char="•"/>
            </a:pPr>
            <a:r>
              <a:rPr lang="en-US" altLang="en-US" sz="2400">
                <a:sym typeface="+mn-ea"/>
              </a:rPr>
              <a:t>Keyboard and Mouse</a:t>
            </a:r>
            <a:endParaRPr lang="en-US" altLang="en-US" sz="2400">
              <a:sym typeface="+mn-ea"/>
            </a:endParaRPr>
          </a:p>
          <a:p>
            <a:endParaRPr lang="en-US" altLang="en-US" sz="2400"/>
          </a:p>
          <a:p>
            <a:r>
              <a:rPr lang="en-US" altLang="en-US" sz="2400" b="1">
                <a:sym typeface="+mn-ea"/>
              </a:rPr>
              <a:t>Software Requirements:</a:t>
            </a:r>
            <a:endParaRPr lang="en-US" altLang="en-US" sz="2400" b="1"/>
          </a:p>
          <a:p>
            <a:pPr marL="342900" indent="-342900">
              <a:buFont typeface="Arial" panose="020B0604020202020204" pitchFamily="34" charset="0"/>
              <a:buChar char="•"/>
            </a:pPr>
            <a:r>
              <a:rPr lang="en-US" altLang="en-US" sz="2400">
                <a:sym typeface="+mn-ea"/>
              </a:rPr>
              <a:t>Operating System: Windows / Linux / macOS</a:t>
            </a:r>
            <a:endParaRPr lang="en-US" altLang="en-US" sz="2400"/>
          </a:p>
          <a:p>
            <a:pPr marL="342900" indent="-342900">
              <a:buFont typeface="Arial" panose="020B0604020202020204" pitchFamily="34" charset="0"/>
              <a:buChar char="•"/>
            </a:pPr>
            <a:r>
              <a:rPr lang="en-US" altLang="en-US" sz="2400">
                <a:sym typeface="+mn-ea"/>
              </a:rPr>
              <a:t>Programming Language: Java / Python</a:t>
            </a:r>
            <a:endParaRPr lang="en-US" altLang="en-US" sz="2400"/>
          </a:p>
          <a:p>
            <a:pPr marL="342900" indent="-342900">
              <a:buFont typeface="Arial" panose="020B0604020202020204" pitchFamily="34" charset="0"/>
              <a:buChar char="•"/>
            </a:pPr>
            <a:r>
              <a:rPr lang="en-US" altLang="en-US" sz="2400">
                <a:sym typeface="+mn-ea"/>
              </a:rPr>
              <a:t>Frontend: HTML, CSS, JavaScript</a:t>
            </a:r>
            <a:endParaRPr lang="en-US" altLang="en-US" sz="2400"/>
          </a:p>
          <a:p>
            <a:pPr marL="342900" indent="-342900">
              <a:buFont typeface="Arial" panose="020B0604020202020204" pitchFamily="34" charset="0"/>
              <a:buChar char="•"/>
            </a:pPr>
            <a:r>
              <a:rPr lang="en-US" altLang="en-US" sz="2400">
                <a:sym typeface="+mn-ea"/>
              </a:rPr>
              <a:t>Development Environment: VS Code / IntelliJ IDEA</a:t>
            </a:r>
            <a:endParaRPr lang="en-US" altLang="en-US" sz="2400"/>
          </a:p>
          <a:p>
            <a:pPr marL="342900" indent="-342900">
              <a:buFont typeface="Arial" panose="020B0604020202020204" pitchFamily="34" charset="0"/>
              <a:buChar char="•"/>
            </a:pPr>
            <a:r>
              <a:rPr lang="en-US" altLang="en-US" sz="2400">
                <a:sym typeface="+mn-ea"/>
              </a:rPr>
              <a:t>Browser: Google Chrome / Microsoft Edge</a:t>
            </a:r>
            <a:endParaRPr lang="en-US" altLang="en-US" sz="2400"/>
          </a:p>
          <a:p>
            <a:pPr marL="342900" indent="-342900">
              <a:buFont typeface="Arial" panose="020B0604020202020204" pitchFamily="34" charset="0"/>
              <a:buChar char="•"/>
            </a:pPr>
            <a:r>
              <a:rPr lang="en-US" altLang="en-US" sz="2400">
                <a:sym typeface="+mn-ea"/>
              </a:rPr>
              <a:t>Data Structures: Trie, Queue, Hash Map</a:t>
            </a:r>
            <a:endParaRPr lang="en-US" altLang="en-US" sz="2400"/>
          </a:p>
          <a:p>
            <a:pPr marL="342900" indent="-342900">
              <a:buFont typeface="Arial" panose="020B0604020202020204" pitchFamily="34" charset="0"/>
              <a:buChar char="•"/>
            </a:pPr>
            <a:r>
              <a:rPr lang="en-US" altLang="en-US" sz="2400">
                <a:sym typeface="+mn-ea"/>
              </a:rPr>
              <a:t>Algorithm: Aho–Corasick</a:t>
            </a:r>
            <a:endParaRPr lang="en-US" altLang="en-US" sz="240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endParaRPr lang="en-US" sz="3200" b="1" dirty="0">
              <a:solidFill>
                <a:schemeClr val="bg1"/>
              </a:solidFill>
            </a:endParaRPr>
          </a:p>
        </p:txBody>
      </p:sp>
      <p:sp>
        <p:nvSpPr>
          <p:cNvPr id="4" name="Text Box 3"/>
          <p:cNvSpPr txBox="1"/>
          <p:nvPr/>
        </p:nvSpPr>
        <p:spPr>
          <a:xfrm>
            <a:off x="908050" y="1096010"/>
            <a:ext cx="10353040" cy="5139055"/>
          </a:xfrm>
          <a:prstGeom prst="rect">
            <a:avLst/>
          </a:prstGeom>
          <a:noFill/>
        </p:spPr>
        <p:txBody>
          <a:bodyPr wrap="square" rtlCol="0" anchor="t">
            <a:noAutofit/>
          </a:bodyPr>
          <a:p>
            <a:r>
              <a:rPr lang="en-US" altLang="en-US" sz="2800"/>
              <a:t>The project successfully demonstrates the practical application of the Aho–Corasick algorithm for efficient multi-pattern string searching. By combining a Trie, failure links, and BFS, the system can identify multiple keywords without repeatedly scanning the input text. Unicode support makes the application useful for multilingual datasets. Overall, the project demonstrates important DSA concepts while providing an efficient solution for large-scale text searching.</a:t>
            </a:r>
            <a:endParaRPr lang="en-US" sz="2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endParaRPr lang="en-US" sz="3200" b="1" dirty="0">
              <a:solidFill>
                <a:schemeClr val="bg1"/>
              </a:solidFill>
            </a:endParaRPr>
          </a:p>
        </p:txBody>
      </p:sp>
      <p:sp>
        <p:nvSpPr>
          <p:cNvPr id="2" name="Text Box 1"/>
          <p:cNvSpPr txBox="1"/>
          <p:nvPr/>
        </p:nvSpPr>
        <p:spPr>
          <a:xfrm>
            <a:off x="942340" y="1177925"/>
            <a:ext cx="10406380" cy="4810125"/>
          </a:xfrm>
          <a:prstGeom prst="rect">
            <a:avLst/>
          </a:prstGeom>
          <a:noFill/>
        </p:spPr>
        <p:txBody>
          <a:bodyPr wrap="square" rtlCol="0" anchor="t">
            <a:noAutofit/>
          </a:bodyPr>
          <a:p>
            <a:r>
              <a:rPr lang="en-US" altLang="en-US" sz="2800"/>
              <a:t>The project can be further enhanced to support large document and text-file processing, additional languages, and real-time searching. Performance comparison with other string-matching algorithms can also be added through graphs and visualizations. Future versions could incorporate fuzzy matching and Natural Language Processing (NLP) for handling spelling variations and contextual searches. The system can also be applied to practical areas such as spam detection, intrusion detection, content monitoring, and large-scale text analysis.</a:t>
            </a:r>
            <a:endParaRPr lang="en-US"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smtClean="0"/>
              <a:t>Thank you</a:t>
            </a:r>
            <a:endParaRPr lang="en-US" sz="32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4520</Words>
  <Application>WPS Presentation</Application>
  <PresentationFormat>Widescreen</PresentationFormat>
  <Paragraphs>83</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Times New Roman</vt:lpstr>
      <vt:lpstr>Gautami</vt:lpstr>
      <vt:lpstr>Segoe UI Symbol</vt:lpstr>
      <vt:lpstr>Calibri</vt:lpstr>
      <vt:lpstr>Microsoft YaHei</vt:lpstr>
      <vt:lpstr>Arial Unicode MS</vt:lpstr>
      <vt:lpstr>Calibri Light</vt:lpstr>
      <vt:lpstr>Office Theme</vt:lpstr>
      <vt:lpstr>       Data Structures and Algorithms -3 (25CS2103E)  Title of the project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manoh</cp:lastModifiedBy>
  <cp:revision>20</cp:revision>
  <dcterms:created xsi:type="dcterms:W3CDTF">2024-08-29T05:25:00Z</dcterms:created>
  <dcterms:modified xsi:type="dcterms:W3CDTF">2026-08-28T03:26:15Z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60A84220FC7F47EFA2BBBB1EE425D6CC_13</vt:lpwstr>
  </property>
  <property fmtid="{D5CDD505-2E9C-101B-9397-08002B2CF9AE}" pid="3" name="KSOProductBuildVer">
    <vt:lpwstr>1033-12.1.0.28032</vt:lpwstr>
  </property>
</Properties>
</file>